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598"/>
  </p:normalViewPr>
  <p:slideViewPr>
    <p:cSldViewPr snapToGrid="0" snapToObjects="1">
      <p:cViewPr varScale="1">
        <p:scale>
          <a:sx n="117" d="100"/>
          <a:sy n="117" d="100"/>
        </p:scale>
        <p:origin x="176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87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B7EA3">
              <a:alpha val="15000"/>
            </a:srgbClr>
          </a:solidFill>
          <a:ln w="12700">
            <a:solidFill>
              <a:srgbClr val="0B7EA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91840"/>
            <a:ext cx="2926080" cy="2926080"/>
          </a:xfrm>
          <a:prstGeom prst="ellipse">
            <a:avLst/>
          </a:prstGeom>
          <a:solidFill>
            <a:srgbClr val="0B7EA3">
              <a:alpha val="10000"/>
            </a:srgbClr>
          </a:solidFill>
          <a:ln w="12700">
            <a:solidFill>
              <a:srgbClr val="0B7EA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0" y="411480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PolicyDesk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3657600" y="23774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69080" y="23774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23774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0" y="23774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Healthcare Policy Understanding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34640" y="329184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0B7EA3">
              <a:alpha val="28000"/>
            </a:srgbClr>
          </a:solidFill>
          <a:ln w="12700">
            <a:solidFill>
              <a:srgbClr val="0B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34640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3: Content Management in Healthcare  ·  Cotiviti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policy management is expensive, slow, and error-prone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97480" cy="2423160"/>
          </a:xfrm>
          <a:prstGeom prst="roundRect">
            <a:avLst>
              <a:gd name="adj" fmla="val 5283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3957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annually 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admin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CAQH,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371600"/>
            <a:ext cx="2697480" cy="2423160"/>
          </a:xfrm>
          <a:prstGeom prst="roundRect">
            <a:avLst>
              <a:gd name="adj" fmla="val 5283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64408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64408" y="23957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HealthCare.gov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initially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in-network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64408" y="3474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KFF,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1371600"/>
            <a:ext cx="2697480" cy="2423160"/>
          </a:xfrm>
          <a:prstGeom prst="roundRect">
            <a:avLst>
              <a:gd name="adj" fmla="val 5283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17336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$494M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17336" y="23957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prior auth savings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unrealized due 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17336" y="3474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CAQH,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840480"/>
            <a:ext cx="8321040" cy="1005840"/>
          </a:xfrm>
          <a:prstGeom prst="roundRect">
            <a:avLst>
              <a:gd name="adj" fmla="val 8182"/>
            </a:avLst>
          </a:prstGeom>
          <a:solidFill>
            <a:srgbClr val="F4F6F9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58768"/>
            <a:ext cx="7955280" cy="96926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documents are the common thread.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change continuously, appear in inconsistent formats, and must be interpreted by staff with varying clinical and coding expertise. Every interpretation gap creates a potential denial, appeal, or compliance risk.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converging to make AI-powered policy management essential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621792" cy="62179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0432" y="1389888"/>
            <a:ext cx="7562088" cy="1024128"/>
          </a:xfrm>
          <a:prstGeom prst="roundRect">
            <a:avLst>
              <a:gd name="adj" fmla="val 8036"/>
            </a:avLst>
          </a:prstGeom>
          <a:solidFill>
            <a:srgbClr val="F4F6F9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Cost Pressure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8105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prior auth costs $10.97 per transaction vs $5.79 electronically. Payers and providers are under board-level pressure to automate documentation workflows (CAQH, 2024).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715768"/>
            <a:ext cx="621792" cy="62179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70432" y="2551176"/>
            <a:ext cx="7562088" cy="1024128"/>
          </a:xfrm>
          <a:prstGeom prst="roundRect">
            <a:avLst>
              <a:gd name="adj" fmla="val 8036"/>
            </a:avLst>
          </a:prstGeom>
          <a:solidFill>
            <a:srgbClr val="F4F6F9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53312" y="26426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CMS-0057 Interoperability Mandate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297180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CMS Prior Authorization Final Rule requires APIs exposing structured prior auth requirements by 2027. Payers must convert narrative policy content into machine-readable formats — whether they're ready or not (CMS, 2024).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877056"/>
            <a:ext cx="621792" cy="62179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8770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70432" y="3712464"/>
            <a:ext cx="7562088" cy="1024128"/>
          </a:xfrm>
          <a:prstGeom prst="roundRect">
            <a:avLst>
              <a:gd name="adj" fmla="val 8036"/>
            </a:avLst>
          </a:prstGeom>
          <a:solidFill>
            <a:srgbClr val="F4F6F9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53312" y="380390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Now Clinically Capable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3312" y="413308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GPT-4-class models achieve strong performance on clinical language benchmarks and medical QA tasks (Singhal et al., 2023; Thirunavukarasu et al., 2023). Policy extraction is now a tractable problem.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PolicyDesk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AI modules for healthcare policy intelligence — GPT-4o, no fine-tuning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4133088" cy="1627632"/>
          </a:xfrm>
          <a:prstGeom prst="roundRect">
            <a:avLst>
              <a:gd name="adj" fmla="val 7303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5453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Summarizer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9019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5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policy name, effective date, CPT codes, coverage criteria, exclusions, and documentation requirements into structured JSON from any PDF or text policy.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5152" y="1389888"/>
            <a:ext cx="4133088" cy="1627632"/>
          </a:xfrm>
          <a:prstGeom prst="roundRect">
            <a:avLst>
              <a:gd name="adj" fmla="val 7303"/>
            </a:avLst>
          </a:prstGeom>
          <a:solidFill>
            <a:srgbClr val="0D3F6E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15453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Diff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9019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5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two policy versions, identifies every material change, classifies impact as High / Medium / Low, and surfaces affected CPT codes and coverage criteria.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3090672"/>
            <a:ext cx="4133088" cy="1627632"/>
          </a:xfrm>
          <a:prstGeom prst="roundRect">
            <a:avLst>
              <a:gd name="adj" fmla="val 7303"/>
            </a:avLst>
          </a:prstGeom>
          <a:solidFill>
            <a:srgbClr val="0A4F65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32461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Converter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5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policy text into a JSON rules array or executable Python adjudication function — making policies directly consumable by downstream rules engines.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3090672"/>
            <a:ext cx="4133088" cy="1627632"/>
          </a:xfrm>
          <a:prstGeom prst="roundRect">
            <a:avLst>
              <a:gd name="adj" fmla="val 7303"/>
            </a:avLst>
          </a:prstGeom>
          <a:solidFill>
            <a:srgbClr val="1A3A6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32461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Review Copilot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8032" y="360273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5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 claim against policy criteria and returns PASS / FLAG / DENY with confidence level, exact policy citations, missing documentation list, and reviewer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47472" y="1188720"/>
            <a:ext cx="2423160" cy="3246120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Policy Documents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Local Coverage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Determinations (LCDs)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Clinical Policies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 Guidelines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Claim Objects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EA3"/>
                </a:solidFill>
              </a:rPr>
              <a:t>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0128" y="1188720"/>
            <a:ext cx="2542032" cy="3246120"/>
          </a:xfrm>
          <a:prstGeom prst="roundRect">
            <a:avLst>
              <a:gd name="adj" fmla="val 4676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0128" y="133502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POLICYDESK ENGINE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56432" y="17830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via OpenAI API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only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 · No RAG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tiktoken chunking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(6,000 token chunks)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JSON-mode structured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 PDF 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25312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EA3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423160" cy="3246120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10528" y="178308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summaries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diff reports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impact ratings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Python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adjudication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FLAG / DENY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policy citations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4626864"/>
            <a:ext cx="8476488" cy="347472"/>
          </a:xfrm>
          <a:prstGeom prst="roundRect">
            <a:avLst>
              <a:gd name="adj" fmla="val 18421"/>
            </a:avLst>
          </a:prstGeom>
          <a:solidFill>
            <a:srgbClr val="0B7EA3">
              <a:alpha val="12000"/>
            </a:srgbClr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46268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Python  ·  Streamlit  ·  OpenAI SDK  ·  PyMuPDF  ·  tiktoken  ·  python-dotenv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Cotiviti?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PolicyDesk extends Cotiviti's existing payment integrity capabilities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3950208" cy="3547872"/>
          </a:xfrm>
          <a:prstGeom prst="roundRect">
            <a:avLst>
              <a:gd name="adj" fmla="val 3351"/>
            </a:avLst>
          </a:prstGeom>
          <a:solidFill>
            <a:srgbClr val="1A2F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630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Pattern Review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30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Prepay + postpay FWA detection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Credentialed clinical analysts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pattern analytics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182112"/>
            <a:ext cx="3337560" cy="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327355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gap: </a:t>
            </a:r>
            <a:r>
              <a:rPr lang="en-US" sz="11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context must be manually looked up per review — slow, inconsistent, and hard to audit at scale.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1325880"/>
            <a:ext cx="4261104" cy="3547872"/>
          </a:xfrm>
          <a:prstGeom prst="roundRect">
            <a:avLst>
              <a:gd name="adj" fmla="val 3351"/>
            </a:avLst>
          </a:prstGeom>
          <a:solidFill>
            <a:srgbClr val="F4F6F9"/>
          </a:solidFill>
          <a:ln w="12700">
            <a:solidFill>
              <a:srgbClr val="DDE5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PolicyDesk Adds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301752" cy="30175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0574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9933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rule extraction — policy into JSON in minutes, not 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807208"/>
            <a:ext cx="301752" cy="30175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8072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surveillance — real-time alerts when high-volume codes are affected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557016"/>
            <a:ext cx="301752" cy="30175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355701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49300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copilot — policy-grounded PASS/FLAG/DENY at point of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4306824"/>
            <a:ext cx="301752" cy="301752"/>
          </a:xfrm>
          <a:prstGeom prst="ellipse">
            <a:avLst/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43068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242816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CMS-0057 readiness — structured prior auth content for 2027 mandates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Risks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3931920" cy="1033272"/>
          </a:xfrm>
          <a:prstGeom prst="roundRect">
            <a:avLst>
              <a:gd name="adj" fmla="val 7965"/>
            </a:avLst>
          </a:prstGeom>
          <a:solidFill>
            <a:srgbClr val="FEF8E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5910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 fabricate coverage criteria. Mitigated by mandatory human review, confidence scoring, and quote-level source citations on every output.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3931920" cy="1033272"/>
          </a:xfrm>
          <a:prstGeom prst="roundRect">
            <a:avLst>
              <a:gd name="adj" fmla="val 7965"/>
            </a:avLst>
          </a:prstGeom>
          <a:solidFill>
            <a:srgbClr val="FEF8E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7249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Exposure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Claim-level workflows may touch ePHI. PolicyDesk v1 stays policy-only. Claim copilots require BAA, de-identification, and audit logging before 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85616"/>
            <a:ext cx="3931920" cy="1033272"/>
          </a:xfrm>
          <a:prstGeom prst="roundRect">
            <a:avLst>
              <a:gd name="adj" fmla="val 7965"/>
            </a:avLst>
          </a:prstGeom>
          <a:solidFill>
            <a:srgbClr val="FEF8E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895344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770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Abrasion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AI decisions create friction. PolicyDesk is framed as a reviewer copilot — humans make every payment determination; the model provides citations and reasoning.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9344"/>
            <a:ext cx="658368" cy="265176"/>
          </a:xfrm>
          <a:prstGeom prst="roundRect">
            <a:avLst>
              <a:gd name="adj" fmla="val 24138"/>
            </a:avLst>
          </a:prstGeom>
          <a:solidFill>
            <a:srgbClr val="0B7EA3"/>
          </a:solidFill>
          <a:ln w="12700">
            <a:solidFill>
              <a:srgbClr val="0B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609344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13832" y="157276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PolicyDesk POC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1883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Policy-only · Prompt engineering · 4 core modules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84064" y="1901952"/>
            <a:ext cx="0" cy="384048"/>
          </a:xfrm>
          <a:prstGeom prst="line">
            <a:avLst/>
          </a:prstGeom>
          <a:noFill/>
          <a:ln w="19050">
            <a:solidFill>
              <a:srgbClr val="B0D0E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658368" cy="265176"/>
          </a:xfrm>
          <a:prstGeom prst="roundRect">
            <a:avLst>
              <a:gd name="adj" fmla="val 24138"/>
            </a:avLst>
          </a:prstGeom>
          <a:solidFill>
            <a:srgbClr val="D0E8F0"/>
          </a:solidFill>
          <a:ln w="12700">
            <a:solidFill>
              <a:srgbClr val="B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496312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2459736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2770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knowledge base · Higher accuracy · Source grounding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84064" y="2788920"/>
            <a:ext cx="0" cy="384048"/>
          </a:xfrm>
          <a:prstGeom prst="line">
            <a:avLst/>
          </a:prstGeom>
          <a:noFill/>
          <a:ln w="19050">
            <a:solidFill>
              <a:srgbClr val="B0D0E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658368" cy="265176"/>
          </a:xfrm>
          <a:prstGeom prst="roundRect">
            <a:avLst>
              <a:gd name="adj" fmla="val 24138"/>
            </a:avLst>
          </a:prstGeom>
          <a:solidFill>
            <a:srgbClr val="D0E8F0"/>
          </a:solidFill>
          <a:ln w="12700">
            <a:solidFill>
              <a:srgbClr val="B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383280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334670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Orchestration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13832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routing agent · Multi-policy reasoning · Auto task selection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84064" y="3675888"/>
            <a:ext cx="0" cy="384048"/>
          </a:xfrm>
          <a:prstGeom prst="line">
            <a:avLst/>
          </a:prstGeom>
          <a:noFill/>
          <a:ln w="19050">
            <a:solidFill>
              <a:srgbClr val="B0D0E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4270248"/>
            <a:ext cx="658368" cy="265176"/>
          </a:xfrm>
          <a:prstGeom prst="roundRect">
            <a:avLst>
              <a:gd name="adj" fmla="val 24138"/>
            </a:avLst>
          </a:prstGeom>
          <a:solidFill>
            <a:srgbClr val="D0E8F0"/>
          </a:solidFill>
          <a:ln w="12700">
            <a:solidFill>
              <a:srgbClr val="B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270248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423367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Claim-Level Copilot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13832" y="4544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PHI-safe claim workflows · Real-time adjudication assist · BAA compliant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188720"/>
            <a:ext cx="3474720" cy="3474720"/>
          </a:xfrm>
          <a:prstGeom prst="ellipse">
            <a:avLst/>
          </a:prstGeom>
          <a:solidFill>
            <a:srgbClr val="0B7EA3">
              <a:alpha val="14000"/>
            </a:srgbClr>
          </a:solidFill>
          <a:ln w="12700">
            <a:solidFill>
              <a:srgbClr val="0B7EA3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383280"/>
            <a:ext cx="3108960" cy="3108960"/>
          </a:xfrm>
          <a:prstGeom prst="ellipse">
            <a:avLst/>
          </a:prstGeom>
          <a:solidFill>
            <a:srgbClr val="0B7EA3">
              <a:alpha val="10000"/>
            </a:srgbClr>
          </a:solidFill>
          <a:ln w="12700">
            <a:solidFill>
              <a:srgbClr val="0B7EA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7955280" cy="1280160"/>
          </a:xfrm>
          <a:prstGeom prst="roundRect">
            <a:avLst>
              <a:gd name="adj" fmla="val 9286"/>
            </a:avLst>
          </a:prstGeom>
          <a:solidFill>
            <a:srgbClr val="0B7EA3">
              <a:alpha val="16000"/>
            </a:srgbClr>
          </a:solidFill>
          <a:ln w="12700">
            <a:solidFill>
              <a:srgbClr val="0B7EA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should invest in a policy intelligence layer focused first on non-PHI policy documents — supporting summarization, version diffing, rule extraction, and reviewer-assist QA. Outputs should be auditable, citation-backed, and consumable by downstream rules engines. Start without touching PHI; expand to claim-level copilots once controls are in place.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0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Success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862072"/>
            <a:ext cx="1847088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6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1847088" cy="6217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encode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into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862072"/>
            <a:ext cx="1847088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6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962656"/>
            <a:ext cx="1847088" cy="6217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5661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as-is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862072"/>
            <a:ext cx="1847088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6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2962656"/>
            <a:ext cx="1847088" cy="6217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Policy-related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adjudication errors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862072"/>
            <a:ext cx="1847088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6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962656"/>
            <a:ext cx="1847088" cy="6217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5661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policy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scope  ·  Auditable outputs  ·  No PHI required to start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Macintosh PowerPoint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PolicyDesk — Cotiviti Hackathon</dc:title>
  <dc:subject>PptxGenJS Presentation</dc:subject>
  <dc:creator>PolicyDesk</dc:creator>
  <cp:lastModifiedBy>Shikha Tiwari</cp:lastModifiedBy>
  <cp:revision>3</cp:revision>
  <dcterms:created xsi:type="dcterms:W3CDTF">2026-06-30T21:18:01Z</dcterms:created>
  <dcterms:modified xsi:type="dcterms:W3CDTF">2026-07-01T20:39:49Z</dcterms:modified>
</cp:coreProperties>
</file>